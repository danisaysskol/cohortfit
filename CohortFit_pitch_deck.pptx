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[~15s] This is CohortFit, our Track 2 entry. In one line: it turns a plain-English cohort description into a transparent, reproducible query, then tells you whether that cohort's data are actually fit to trust. Our pitch is honesty as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[~25s] Hospital data are rich but hard to use — one admission spans dozens of linked tables. Before you can trust an analysis you face two hurdles at once: define the cohort correctly across many joins, and judge whether the data support it. Is a blood pressure of 801 a real extreme or a data error? Get that wrong and every downstream result is poisoned.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[~25s] CohortFit puts all of that in one workspace. Describe the cohort in plain English, then work with it through four lenses on the same patients: the matched patients and their event timelines, the query behind them, a data-fitness scorecard, and the cohort's measurements — coverage, units, coding. Edit and rebuild any time without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[~30s] The AI is used only where it's necessary. Your words become a validated JSON query with strict structured outputs, and a deterministic DuckDB compiler validates every field against the schema before running it — so the model never writes executable SQL, and a hallucinated column becomes a clarification, not a bad query. Every claim traces back to a source row, and when the data can't support an answer it abstains. The provenance funnel shows 100 patients down to the 9 that match — every step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[~30s] Data quality is the heart of it: a five-dimension scorecard, and every flag drills to the real offending rows. These are genuine bugs in the demo — an arterial BP of 801 mmHg, MCHC recorded in two units in one column, 2,168 labs charted outside their admission window. Each is classified — data error versus a verified clinical finding — and any fix is reversible and rule-backed. We never edit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[~30s] And we measure it honestly. Cohort correctness is an exact set match against a hand-verified gold query. On the temporal check, precision and recall are 1.00 across five seeds — but we're explicit that this is one dimension, the easy one; the other four are evidenced by real clickable findings, not injection. Against a naive flag-everything baseline we hold about 14x the precision at the same recall. And every cohort exports as a re-runnable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[~25s] Safety is built in — research-only banner on every screen, provenance and uncertainty on every output, AI content marked, and we minimize what's sent to the model. Most importantly it's failure-tested: it knows when to say no. Ask for patients admitted in winter and it abstains, because the dates are shifted and seasonality is unknowable. Contradictions it clarifies; predictions it refuses.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[~20s] We're honest about the limits — 100 patients is illustrative, not clinical evidence — and about what's next: harder-dimension evaluation, leakage guards, a larger dataset. But it runs today with one command. The differentiator is simple: CohortFit tells you when the data can't support the answer. Honesty is the feature.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451121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SOFSTICA AI HACKATHON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930830" y="876300"/>
            <a:ext cx="69403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 2 · COHORT &amp; DATA QUALITY EXPLORER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35456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AF4E3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09700" y="2272010"/>
            <a:ext cx="372169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HONESTY AS A FEATURE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894310"/>
            <a:ext cx="14668500" cy="12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40"/>
              </a:lnSpc>
              <a:buNone/>
            </a:pPr>
            <a:r>
              <a:rPr lang="en-US" sz="9900" b="1" spc="-297" kern="0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CohortFit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1047750" y="4419005"/>
            <a:ext cx="12165330" cy="1471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76"/>
              </a:lnSpc>
              <a:buNone/>
            </a:pPr>
            <a:r>
              <a:rPr lang="en-US" sz="2850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Turn a plain-English cohort into a transparent, reproducible query — then judge whether that cohort's data are </a:t>
            </a:r>
            <a:pPr algn="l" indent="0" marL="0">
              <a:lnSpc>
                <a:spcPct val="101676"/>
              </a:lnSpc>
              <a:buNone/>
            </a:pPr>
            <a:r>
              <a:rPr lang="en-US" sz="2850" b="1" dirty="0">
                <a:solidFill>
                  <a:srgbClr val="1E3A5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fit to trust</a:t>
            </a:r>
            <a:pPr algn="l" indent="0" marL="0">
              <a:lnSpc>
                <a:spcPct val="101676"/>
              </a:lnSpc>
              <a:buNone/>
            </a:pPr>
            <a:r>
              <a:rPr lang="en-US" sz="2850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separating a real clinical finding from a data error.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047750" y="6949579"/>
            <a:ext cx="51863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E3A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github.com/danisaysskol/CohortFit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7330579"/>
            <a:ext cx="51863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Muhammad Danish · Soem Aylani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8726289"/>
            <a:ext cx="16192500" cy="9525"/>
          </a:xfrm>
          <a:prstGeom prst="rect">
            <a:avLst/>
          </a:prstGeom>
          <a:solidFill>
            <a:srgbClr val="B6B1A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8904089"/>
            <a:ext cx="166782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 Do not use for diagnosis, treatment, triage, or emergency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5250"/>
            <a:ext cx="14668500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71"/>
              </a:lnSpc>
              <a:buNone/>
            </a:pPr>
            <a:r>
              <a:rPr lang="en-US" sz="4650" b="1" spc="-93" kern="0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Hospital data are rich, but hard to trust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200771"/>
            <a:ext cx="12753975" cy="822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68"/>
              </a:lnSpc>
              <a:buNone/>
            </a:pPr>
            <a:r>
              <a:rPr lang="en-US" sz="2175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admission spans dozens of linked tables — labs, meds, diagnoses, ICU observations. Before that data can support credible research, a researcher has to clear two hurdles at once.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1047750" y="3518595"/>
            <a:ext cx="7924800" cy="2603302"/>
          </a:xfrm>
          <a:prstGeom prst="roundRect">
            <a:avLst>
              <a:gd name="adj" fmla="val 3293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54150" y="3944045"/>
            <a:ext cx="7823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E3A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54150" y="4439345"/>
            <a:ext cx="7823200" cy="450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11"/>
              </a:lnSpc>
              <a:buNone/>
            </a:pPr>
            <a:r>
              <a:rPr lang="en-US" sz="2850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patients are in the cohort?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54150" y="5004296"/>
            <a:ext cx="73253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1875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Translating a plain-English question into correct, reproducible inclusion and exclusion logic across many joined tables.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3518595"/>
            <a:ext cx="7924800" cy="2603302"/>
          </a:xfrm>
          <a:prstGeom prst="roundRect">
            <a:avLst>
              <a:gd name="adj" fmla="val 3293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721850" y="3944045"/>
            <a:ext cx="7823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JUDGE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721850" y="4439345"/>
            <a:ext cx="7823200" cy="450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11"/>
              </a:lnSpc>
              <a:buNone/>
            </a:pPr>
            <a:r>
              <a:rPr lang="en-US" sz="2850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Is that cohort's data fit to trust?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721850" y="5004296"/>
            <a:ext cx="7325360" cy="7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1875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value of </a:t>
            </a:r>
            <a:pPr algn="l" indent="0" marL="0">
              <a:lnSpc>
                <a:spcPct val="110204"/>
              </a:lnSpc>
              <a:buNone/>
            </a:pPr>
            <a:r>
              <a:rPr lang="en-US" sz="1875" dirty="0">
                <a:solidFill>
                  <a:srgbClr val="0A0A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801 mmHg </a:t>
            </a:r>
            <a:pPr algn="l" indent="0" marL="0">
              <a:lnSpc>
                <a:spcPct val="110204"/>
              </a:lnSpc>
              <a:buNone/>
            </a:pPr>
            <a:r>
              <a:rPr lang="en-US" sz="1875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— is it a real extreme, or a data error? Getting this wrong poisons every downstream result.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9086850"/>
            <a:ext cx="161925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245600"/>
            <a:ext cx="166782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WHAT IT DOES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6200"/>
            <a:ext cx="1471612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02"/>
              </a:lnSpc>
              <a:buNone/>
            </a:pPr>
            <a:r>
              <a:rPr lang="en-US" sz="4650" b="1" spc="-93" kern="0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cohort, one workspace — four lenses on the same patients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952056"/>
            <a:ext cx="8002488" cy="1069975"/>
          </a:xfrm>
          <a:prstGeom prst="roundRect">
            <a:avLst>
              <a:gd name="adj" fmla="val 8012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01750" y="3277493"/>
            <a:ext cx="514350" cy="419100"/>
          </a:xfrm>
          <a:prstGeom prst="roundRect">
            <a:avLst>
              <a:gd name="adj" fmla="val 13636"/>
            </a:avLst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16050" y="3334643"/>
            <a:ext cx="361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7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987550" y="3167955"/>
            <a:ext cx="648775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Describe in plain English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987550" y="3507681"/>
            <a:ext cx="648775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"ICU patients over 65 who died in hospital"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6850" y="4174431"/>
            <a:ext cx="19050" cy="133350"/>
          </a:xfrm>
          <a:prstGeom prst="rect">
            <a:avLst/>
          </a:prstGeom>
          <a:solidFill>
            <a:srgbClr val="B6B1A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47750" y="4460181"/>
            <a:ext cx="8002488" cy="984250"/>
          </a:xfrm>
          <a:prstGeom prst="roundRect">
            <a:avLst>
              <a:gd name="adj" fmla="val 8710"/>
            </a:avLst>
          </a:prstGeom>
          <a:solidFill>
            <a:srgbClr val="FFFEFB"/>
          </a:solidFill>
          <a:ln w="6350">
            <a:solidFill>
              <a:srgbClr val="D2CEC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01750" y="4657031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47540" y="4637981"/>
            <a:ext cx="523547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Patients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747540" y="4968180"/>
            <a:ext cx="523547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Matched patients + per-patient event timelines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5577780"/>
            <a:ext cx="8002488" cy="984250"/>
          </a:xfrm>
          <a:prstGeom prst="roundRect">
            <a:avLst>
              <a:gd name="adj" fmla="val 8710"/>
            </a:avLst>
          </a:prstGeom>
          <a:solidFill>
            <a:srgbClr val="FFFEFB"/>
          </a:solidFill>
          <a:ln w="6350">
            <a:solidFill>
              <a:srgbClr val="D2CEC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01750" y="5774631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47540" y="5755581"/>
            <a:ext cx="668715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Query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747540" y="6085781"/>
            <a:ext cx="668715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Visible in/out funnel · IR &amp; SQL · reproducible-recipe export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6695381"/>
            <a:ext cx="8002488" cy="984250"/>
          </a:xfrm>
          <a:prstGeom prst="roundRect">
            <a:avLst>
              <a:gd name="adj" fmla="val 8710"/>
            </a:avLst>
          </a:prstGeom>
          <a:solidFill>
            <a:srgbClr val="FFFEFB"/>
          </a:solidFill>
          <a:ln w="6350">
            <a:solidFill>
              <a:srgbClr val="D2CEC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01750" y="6892230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47540" y="6873180"/>
            <a:ext cx="389915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fitness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747540" y="7203381"/>
            <a:ext cx="389915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red / amber / green scorecard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7812981"/>
            <a:ext cx="8002488" cy="984250"/>
          </a:xfrm>
          <a:prstGeom prst="roundRect">
            <a:avLst>
              <a:gd name="adj" fmla="val 8710"/>
            </a:avLst>
          </a:prstGeom>
          <a:solidFill>
            <a:srgbClr val="FFFEFB"/>
          </a:solidFill>
          <a:ln w="6350">
            <a:solidFill>
              <a:srgbClr val="D2CEC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01750" y="8009831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47540" y="7990781"/>
            <a:ext cx="27928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Measurements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747540" y="8320980"/>
            <a:ext cx="27928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Coverage · units · coding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45538" y="2871986"/>
            <a:ext cx="846418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COHORTS WORKSPACE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45538" y="3284736"/>
            <a:ext cx="7694712" cy="2848030"/>
          </a:xfrm>
          <a:prstGeom prst="roundRect">
            <a:avLst>
              <a:gd name="adj" fmla="val 1533"/>
            </a:avLst>
          </a:prstGeom>
          <a:solidFill>
            <a:srgbClr val="FFFEFB"/>
          </a:solidFill>
          <a:ln w="6350">
            <a:solidFill>
              <a:srgbClr val="B6B1A3"/>
            </a:solidFill>
            <a:prstDash val="solid"/>
          </a:ln>
          <a:effectLst>
            <a:outerShdw sx="100000" sy="100000" kx="0" ky="0" algn="bl" rotWithShape="0" blurRad="190500" dist="76200" dir="5400000">
              <a:srgbClr val="14130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7750" y="9086850"/>
            <a:ext cx="161925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47750" y="9245600"/>
            <a:ext cx="166782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</a:t>
            </a:r>
            <a:endParaRPr lang="en-US" sz="1800" dirty="0"/>
          </a:p>
        </p:txBody>
      </p:sp>
      <p:pic>
        <p:nvPicPr>
          <p:cNvPr id="30" name="Picture 29" descr="slide-workspa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438" y="3373636"/>
            <a:ext cx="7516912" cy="2670230"/>
          </a:xfrm>
          <a:prstGeom prst="rect">
            <a:avLst/>
          </a:prstGeom>
          <a:ln w="12700">
            <a:solidFill>
              <a:srgbClr val="B6B1A3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HOW IT WORKS — AI WHERE IT'S NECESSARY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6200"/>
            <a:ext cx="1471612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02"/>
              </a:lnSpc>
              <a:buNone/>
            </a:pPr>
            <a:r>
              <a:rPr lang="en-US" sz="4650" b="1" spc="-93" kern="0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model proposes a query; a deterministic compiler runs it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910086"/>
            <a:ext cx="4748808" cy="1558925"/>
          </a:xfrm>
          <a:prstGeom prst="roundRect">
            <a:avLst>
              <a:gd name="adj" fmla="val 5499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20800" y="3164086"/>
            <a:ext cx="462297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PLAIN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0800" y="3576836"/>
            <a:ext cx="432878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90"/>
              </a:lnSpc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"ICU patients over 65 who died in hospital"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987058" y="2910086"/>
            <a:ext cx="254298" cy="159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355656" y="2910086"/>
            <a:ext cx="5576689" cy="1558925"/>
          </a:xfrm>
          <a:prstGeom prst="roundRect">
            <a:avLst>
              <a:gd name="adj" fmla="val 5499"/>
            </a:avLst>
          </a:prstGeom>
          <a:solidFill>
            <a:srgbClr val="1E3A54"/>
          </a:solidFill>
          <a:ln/>
          <a:effectLst>
            <a:outerShdw sx="100000" sy="100000" kx="0" ky="0" algn="bl" rotWithShape="0" blurRad="190500" dist="76200" dir="5400000">
              <a:srgbClr val="14130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22356" y="3157736"/>
            <a:ext cx="554761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7F3">
                    <a:alpha val="6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VALIDATED JSON IR · GPT-5.6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2356" y="3570486"/>
            <a:ext cx="55476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98"/>
              </a:lnSpc>
              <a:buNone/>
            </a:pPr>
            <a:r>
              <a:rPr lang="en-US" sz="1875" b="1" dirty="0">
                <a:solidFill>
                  <a:srgbClr val="F8F7F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Strict structured outputs; fields schema-checked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622356" y="3922911"/>
            <a:ext cx="554761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7F3">
                    <a:alpha val="78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free-text SQL from the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22845" y="2910086"/>
            <a:ext cx="254298" cy="159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491442" y="2910086"/>
            <a:ext cx="4748808" cy="1558925"/>
          </a:xfrm>
          <a:prstGeom prst="roundRect">
            <a:avLst>
              <a:gd name="adj" fmla="val 5499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764493" y="3164086"/>
            <a:ext cx="462297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DETERMINISTIC DUCKDB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764493" y="3576836"/>
            <a:ext cx="432878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90"/>
              </a:lnSpc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Compiled SQL runs the cohort — same input, same result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7750" y="4967486"/>
            <a:ext cx="85725" cy="85725"/>
          </a:xfrm>
          <a:prstGeom prst="ellipse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85875" y="4754761"/>
            <a:ext cx="844470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model never writes executable SQL </a:t>
            </a:r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— it only fills a schema-validated query object.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5758061"/>
            <a:ext cx="85725" cy="85725"/>
          </a:xfrm>
          <a:prstGeom prst="ellipse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85875" y="5545336"/>
            <a:ext cx="844470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claim traces to a source row </a:t>
            </a:r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— patient-level output points back to the data.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47750" y="6548636"/>
            <a:ext cx="85725" cy="85725"/>
          </a:xfrm>
          <a:prstGeom prst="ellipse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85875" y="6335911"/>
            <a:ext cx="870418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Abstains when unsupported </a:t>
            </a:r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— declines rather than fabricating an answer.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903719" y="4754761"/>
            <a:ext cx="7336433" cy="4141589"/>
          </a:xfrm>
          <a:prstGeom prst="roundRect">
            <a:avLst>
              <a:gd name="adj" fmla="val 2070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95818" y="5008761"/>
            <a:ext cx="742745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PROVENANCE FUNNEL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95818" y="6139061"/>
            <a:ext cx="6752233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195818" y="5650111"/>
            <a:ext cx="181053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patients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296482" y="5564386"/>
            <a:ext cx="72777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A0A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10195818" y="6824861"/>
            <a:ext cx="6752233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95818" y="6335911"/>
            <a:ext cx="11620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 ≥ 65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513671" y="6250186"/>
            <a:ext cx="5105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A0A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44</a:t>
            </a:r>
            <a:endParaRPr lang="en-US" sz="2850" dirty="0"/>
          </a:p>
        </p:txBody>
      </p:sp>
      <p:sp>
        <p:nvSpPr>
          <p:cNvPr id="30" name="Shape 28"/>
          <p:cNvSpPr/>
          <p:nvPr/>
        </p:nvSpPr>
        <p:spPr>
          <a:xfrm>
            <a:off x="10195818" y="7510661"/>
            <a:ext cx="6752233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95818" y="7021711"/>
            <a:ext cx="22631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 an ICU stay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513671" y="6935986"/>
            <a:ext cx="5105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A0A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44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10195818" y="7796411"/>
            <a:ext cx="375934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Died in hospital → COHORT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593642" y="7650361"/>
            <a:ext cx="43060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59"/>
              </a:lnSpc>
              <a:buNone/>
            </a:pPr>
            <a:r>
              <a:rPr lang="en-US" sz="4650" b="1" dirty="0">
                <a:solidFill>
                  <a:srgbClr val="1E3A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4650" dirty="0"/>
          </a:p>
        </p:txBody>
      </p:sp>
      <p:sp>
        <p:nvSpPr>
          <p:cNvPr id="35" name="Shape 33"/>
          <p:cNvSpPr/>
          <p:nvPr/>
        </p:nvSpPr>
        <p:spPr>
          <a:xfrm>
            <a:off x="1047750" y="9086850"/>
            <a:ext cx="161925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47750" y="9245600"/>
            <a:ext cx="166782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DATA QUALITY YOU CAN 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6200"/>
            <a:ext cx="15304770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02"/>
              </a:lnSpc>
              <a:buNone/>
            </a:pPr>
            <a:r>
              <a:rPr lang="en-US" sz="4650" b="1" spc="-93" kern="0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five-dimension scorecard — every flag drills to the real rows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833886"/>
            <a:ext cx="3131741" cy="895350"/>
          </a:xfrm>
          <a:prstGeom prst="roundRect">
            <a:avLst>
              <a:gd name="adj" fmla="val 957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44600" y="3011686"/>
            <a:ext cx="114300" cy="114300"/>
          </a:xfrm>
          <a:prstGeom prst="ellipse">
            <a:avLst/>
          </a:prstGeom>
          <a:solidFill>
            <a:srgbClr val="9C26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44600" y="3240286"/>
            <a:ext cx="301184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Plausibility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4312841" y="2833886"/>
            <a:ext cx="3131840" cy="895350"/>
          </a:xfrm>
          <a:prstGeom prst="roundRect">
            <a:avLst>
              <a:gd name="adj" fmla="val 957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09691" y="3011686"/>
            <a:ext cx="114300" cy="114300"/>
          </a:xfrm>
          <a:prstGeom prst="ellipse">
            <a:avLst/>
          </a:prstGeom>
          <a:solidFill>
            <a:srgbClr val="9C262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09691" y="3240286"/>
            <a:ext cx="301195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7578030" y="2833886"/>
            <a:ext cx="3131840" cy="895350"/>
          </a:xfrm>
          <a:prstGeom prst="roundRect">
            <a:avLst>
              <a:gd name="adj" fmla="val 957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4881" y="3011686"/>
            <a:ext cx="114300" cy="114300"/>
          </a:xfrm>
          <a:prstGeom prst="ellipse">
            <a:avLst/>
          </a:prstGeom>
          <a:solidFill>
            <a:srgbClr val="9C262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4881" y="3240286"/>
            <a:ext cx="301195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Temporal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843221" y="2833886"/>
            <a:ext cx="3131840" cy="895350"/>
          </a:xfrm>
          <a:prstGeom prst="roundRect">
            <a:avLst>
              <a:gd name="adj" fmla="val 957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040070" y="3011686"/>
            <a:ext cx="114300" cy="114300"/>
          </a:xfrm>
          <a:prstGeom prst="ellipse">
            <a:avLst/>
          </a:prstGeom>
          <a:solidFill>
            <a:srgbClr val="94600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040070" y="3240286"/>
            <a:ext cx="301195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Completeness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4108411" y="2833886"/>
            <a:ext cx="3131840" cy="895350"/>
          </a:xfrm>
          <a:prstGeom prst="roundRect">
            <a:avLst>
              <a:gd name="adj" fmla="val 957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4305261" y="3011686"/>
            <a:ext cx="114300" cy="114300"/>
          </a:xfrm>
          <a:prstGeom prst="ellipse">
            <a:avLst/>
          </a:prstGeom>
          <a:solidFill>
            <a:srgbClr val="94600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305261" y="3240286"/>
            <a:ext cx="301195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Duplicates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47750" y="4014986"/>
            <a:ext cx="820372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BUGS IT CATCHES — EVERY ONE POINTS TO A REAL ROW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7750" y="4754761"/>
            <a:ext cx="7964785" cy="984250"/>
          </a:xfrm>
          <a:prstGeom prst="roundRect">
            <a:avLst>
              <a:gd name="adj" fmla="val 8710"/>
            </a:avLst>
          </a:prstGeom>
          <a:solidFill>
            <a:srgbClr val="FBFAF6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47750" y="5732661"/>
            <a:ext cx="7964785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47750" y="4754761"/>
            <a:ext cx="7964785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47750" y="4754761"/>
            <a:ext cx="38100" cy="984250"/>
          </a:xfrm>
          <a:prstGeom prst="rect">
            <a:avLst/>
          </a:prstGeom>
          <a:solidFill>
            <a:srgbClr val="9C262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06185" y="4754761"/>
            <a:ext cx="9525" cy="984250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14450" y="5065911"/>
            <a:ext cx="7277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027"/>
              </a:lnSpc>
              <a:buNone/>
            </a:pPr>
            <a:r>
              <a:rPr lang="en-US" sz="2850" b="1" dirty="0">
                <a:solidFill>
                  <a:srgbClr val="9C2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801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2156520" y="4932561"/>
            <a:ext cx="526079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mmHg arterial BP mean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2156520" y="5262761"/>
            <a:ext cx="52607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chartevents · itemid 220052 · impossible range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7750" y="5881886"/>
            <a:ext cx="7964785" cy="984250"/>
          </a:xfrm>
          <a:prstGeom prst="roundRect">
            <a:avLst>
              <a:gd name="adj" fmla="val 8710"/>
            </a:avLst>
          </a:prstGeom>
          <a:solidFill>
            <a:srgbClr val="FBFAF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7750" y="6859786"/>
            <a:ext cx="7964785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7750" y="5881886"/>
            <a:ext cx="7964785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7750" y="5881886"/>
            <a:ext cx="38100" cy="984250"/>
          </a:xfrm>
          <a:prstGeom prst="rect">
            <a:avLst/>
          </a:prstGeom>
          <a:solidFill>
            <a:srgbClr val="9C2620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006185" y="5881886"/>
            <a:ext cx="9525" cy="984250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314450" y="6193036"/>
            <a:ext cx="2933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027"/>
              </a:lnSpc>
              <a:buNone/>
            </a:pPr>
            <a:r>
              <a:rPr lang="en-US" sz="2850" b="1" dirty="0">
                <a:solidFill>
                  <a:srgbClr val="9C2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850" dirty="0"/>
          </a:p>
        </p:txBody>
      </p:sp>
      <p:sp>
        <p:nvSpPr>
          <p:cNvPr id="34" name="Text 32"/>
          <p:cNvSpPr/>
          <p:nvPr/>
        </p:nvSpPr>
        <p:spPr>
          <a:xfrm>
            <a:off x="1722140" y="6059686"/>
            <a:ext cx="496240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units in one MCHC column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722140" y="6389886"/>
            <a:ext cx="496240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labevents · itemid 51249 · g/dL and % mixed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47750" y="7009011"/>
            <a:ext cx="7964785" cy="984250"/>
          </a:xfrm>
          <a:prstGeom prst="roundRect">
            <a:avLst>
              <a:gd name="adj" fmla="val 8710"/>
            </a:avLst>
          </a:prstGeom>
          <a:solidFill>
            <a:srgbClr val="FBFAF6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7750" y="7986911"/>
            <a:ext cx="7964785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47750" y="7009011"/>
            <a:ext cx="7964785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47750" y="7009011"/>
            <a:ext cx="38100" cy="984250"/>
          </a:xfrm>
          <a:prstGeom prst="rect">
            <a:avLst/>
          </a:prstGeom>
          <a:solidFill>
            <a:srgbClr val="9C2620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006185" y="7009011"/>
            <a:ext cx="9525" cy="984250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314450" y="7320161"/>
            <a:ext cx="1162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027"/>
              </a:lnSpc>
              <a:buNone/>
            </a:pPr>
            <a:r>
              <a:rPr lang="en-US" sz="2850" b="1" dirty="0">
                <a:solidFill>
                  <a:srgbClr val="9C2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2,168</a:t>
            </a:r>
            <a:endParaRPr lang="en-US" sz="2850" dirty="0"/>
          </a:p>
        </p:txBody>
      </p:sp>
      <p:sp>
        <p:nvSpPr>
          <p:cNvPr id="42" name="Text 40"/>
          <p:cNvSpPr/>
          <p:nvPr/>
        </p:nvSpPr>
        <p:spPr>
          <a:xfrm>
            <a:off x="2590800" y="7186811"/>
            <a:ext cx="528262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labs charted outside their admission window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2590800" y="7517011"/>
            <a:ext cx="528262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labevents · temporal misalignment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47750" y="8193286"/>
            <a:ext cx="3951586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Classified </a:t>
            </a:r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— data error vs verified finding vs caveat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131891" y="8193286"/>
            <a:ext cx="3997063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Reversible </a:t>
            </a:r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— rule-backed fixes; source never edited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431635" y="4014986"/>
            <a:ext cx="858947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 DRILL-IN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431635" y="4427736"/>
            <a:ext cx="7808615" cy="3462749"/>
          </a:xfrm>
          <a:prstGeom prst="roundRect">
            <a:avLst>
              <a:gd name="adj" fmla="val 1918"/>
            </a:avLst>
          </a:prstGeom>
          <a:solidFill>
            <a:srgbClr val="FFFEFB"/>
          </a:solidFill>
          <a:ln w="6350">
            <a:solidFill>
              <a:srgbClr val="B6B1A3"/>
            </a:solidFill>
            <a:prstDash val="solid"/>
          </a:ln>
          <a:effectLst>
            <a:outerShdw sx="100000" sy="100000" kx="0" ky="0" algn="bl" rotWithShape="0" blurRad="190500" dist="76200" dir="5400000">
              <a:srgbClr val="14130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47750" y="9086850"/>
            <a:ext cx="161925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47750" y="9245600"/>
            <a:ext cx="166782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</a:t>
            </a:r>
            <a:endParaRPr lang="en-US" sz="1800" dirty="0"/>
          </a:p>
        </p:txBody>
      </p:sp>
      <p:pic>
        <p:nvPicPr>
          <p:cNvPr id="50" name="Picture 49" descr="quality-finding-drill-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535" y="4516636"/>
            <a:ext cx="7630815" cy="3284949"/>
          </a:xfrm>
          <a:prstGeom prst="rect">
            <a:avLst/>
          </a:prstGeom>
          <a:ln w="12700">
            <a:solidFill>
              <a:srgbClr val="B6B1A3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EVALUATION &amp; EVIDENCE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6200"/>
            <a:ext cx="1471612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02"/>
              </a:lnSpc>
              <a:buNone/>
            </a:pPr>
            <a:r>
              <a:rPr lang="en-US" sz="4650" b="1" spc="-93" kern="0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Measured honestly, and reproducible from a stored recipe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871986"/>
            <a:ext cx="3919537" cy="1868091"/>
          </a:xfrm>
          <a:prstGeom prst="roundRect">
            <a:avLst>
              <a:gd name="adj" fmla="val 4589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20800" y="3125986"/>
            <a:ext cx="371078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4800" b="1" dirty="0">
                <a:solidFill>
                  <a:srgbClr val="0A0A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20800" y="3868936"/>
            <a:ext cx="3710781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Gold cohort — </a:t>
            </a:r>
            <a:pPr algn="l" indent="0" marL="0">
              <a:lnSpc>
                <a:spcPct val="103404"/>
              </a:lnSpc>
              <a:buNone/>
            </a:pPr>
            <a:r>
              <a:rPr lang="en-US" sz="1800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exact set match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38738" y="2871986"/>
            <a:ext cx="3919537" cy="1868091"/>
          </a:xfrm>
          <a:prstGeom prst="roundRect">
            <a:avLst>
              <a:gd name="adj" fmla="val 4589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11788" y="3125986"/>
            <a:ext cx="371078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4800" b="1" dirty="0">
                <a:solidFill>
                  <a:srgbClr val="2F6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11788" y="3868936"/>
            <a:ext cx="347464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Precision &amp; recall · </a:t>
            </a:r>
            <a:pPr algn="l" indent="0" marL="0">
              <a:lnSpc>
                <a:spcPct val="103404"/>
              </a:lnSpc>
              <a:buNone/>
            </a:pPr>
            <a:r>
              <a:rPr lang="en-US" sz="1800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temporal check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9725" y="2871986"/>
            <a:ext cx="3919537" cy="1868091"/>
          </a:xfrm>
          <a:prstGeom prst="roundRect">
            <a:avLst>
              <a:gd name="adj" fmla="val 4589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502775" y="3125986"/>
            <a:ext cx="371078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4800" b="1" dirty="0">
                <a:solidFill>
                  <a:srgbClr val="2F6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502775" y="3868936"/>
            <a:ext cx="3710781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False-positive rate · </a:t>
            </a:r>
            <a:pPr algn="l" indent="0" marL="0">
              <a:lnSpc>
                <a:spcPct val="103404"/>
              </a:lnSpc>
              <a:buNone/>
            </a:pPr>
            <a:r>
              <a:rPr lang="en-US" sz="1800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 seeds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20713" y="2871986"/>
            <a:ext cx="3919537" cy="1868091"/>
          </a:xfrm>
          <a:prstGeom prst="roundRect">
            <a:avLst>
              <a:gd name="adj" fmla="val 4589"/>
            </a:avLst>
          </a:prstGeom>
          <a:solidFill>
            <a:srgbClr val="1E3A54"/>
          </a:solidFill>
          <a:ln/>
          <a:effectLst>
            <a:outerShdw sx="100000" sy="100000" kx="0" ky="0" algn="bl" rotWithShape="0" blurRad="190500" dist="76200" dir="5400000">
              <a:srgbClr val="14130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587413" y="3119636"/>
            <a:ext cx="372475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4800" b="1" dirty="0">
                <a:solidFill>
                  <a:srgbClr val="F8F7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~14×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587413" y="3862586"/>
            <a:ext cx="3487722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F8F7F3">
                    <a:alpha val="82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Precision vs a flag-everything baseline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5025827"/>
            <a:ext cx="7886700" cy="1825625"/>
          </a:xfrm>
          <a:prstGeom prst="roundRect">
            <a:avLst>
              <a:gd name="adj" fmla="val 4696"/>
            </a:avLst>
          </a:prstGeom>
          <a:solidFill>
            <a:srgbClr val="FFFE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47750" y="6845102"/>
            <a:ext cx="78867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47750" y="5025827"/>
            <a:ext cx="78867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47750" y="5025827"/>
            <a:ext cx="38100" cy="1825625"/>
          </a:xfrm>
          <a:prstGeom prst="rect">
            <a:avLst/>
          </a:prstGeom>
          <a:solidFill>
            <a:srgbClr val="946009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928100" y="5025827"/>
            <a:ext cx="9525" cy="18256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33500" y="5241727"/>
            <a:ext cx="808164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9460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HONEST CAVEAT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33500" y="5635427"/>
            <a:ext cx="7567359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Those perfect scores cover </a:t>
            </a:r>
            <a:pPr algn="l" indent="0" marL="0">
              <a:lnSpc>
                <a:spcPct val="107143"/>
              </a:lnSpc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dimension — temporal</a:t>
            </a:r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the easy, cleanly-separable case. The other four are evidenced by real, clickable findings, not injection.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047750" y="7241977"/>
            <a:ext cx="85725" cy="85725"/>
          </a:xfrm>
          <a:prstGeom prst="ellipse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66825" y="7022902"/>
            <a:ext cx="7897654" cy="68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Provenance funnel </a:t>
            </a:r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0A0A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 → 44 → 44 → 9</a:t>
            </a:r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hand-verified against gold SQL.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750" y="8051602"/>
            <a:ext cx="85725" cy="85725"/>
          </a:xfrm>
          <a:prstGeom prst="ellipse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66825" y="7838877"/>
            <a:ext cx="789765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Reproducible recipe </a:t>
            </a:r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— IR + SQL + subject_ids export to a re-runnable file.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353550" y="5025827"/>
            <a:ext cx="86753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 VIEW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53550" y="5438577"/>
            <a:ext cx="7886700" cy="3496363"/>
          </a:xfrm>
          <a:prstGeom prst="roundRect">
            <a:avLst>
              <a:gd name="adj" fmla="val 2479"/>
            </a:avLst>
          </a:prstGeom>
          <a:solidFill>
            <a:srgbClr val="FFFEFB"/>
          </a:solidFill>
          <a:ln w="6350">
            <a:solidFill>
              <a:srgbClr val="B6B1A3"/>
            </a:solidFill>
            <a:prstDash val="solid"/>
          </a:ln>
          <a:effectLst>
            <a:outerShdw sx="100000" sy="100000" kx="0" ky="0" algn="bl" rotWithShape="0" blurRad="190500" dist="76200" dir="5400000">
              <a:srgbClr val="14130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7750" y="9086850"/>
            <a:ext cx="161925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47750" y="9245600"/>
            <a:ext cx="166782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</a:t>
            </a:r>
            <a:endParaRPr lang="en-US" sz="1800" dirty="0"/>
          </a:p>
        </p:txBody>
      </p:sp>
      <p:pic>
        <p:nvPicPr>
          <p:cNvPr id="31" name="Picture 30" descr="app-evalu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450" y="5527477"/>
            <a:ext cx="7708900" cy="3318563"/>
          </a:xfrm>
          <a:prstGeom prst="rect">
            <a:avLst/>
          </a:prstGeom>
          <a:ln w="12700">
            <a:solidFill>
              <a:srgbClr val="B6B1A3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SAFETY, HONESTY &amp; AN HONEST FAILURE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6200"/>
            <a:ext cx="157162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02"/>
              </a:lnSpc>
              <a:buNone/>
            </a:pPr>
            <a:r>
              <a:rPr lang="en-US" sz="4650" b="1" spc="-93" kern="0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says "I can't" — and that is the point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290068"/>
            <a:ext cx="3933825" cy="1459111"/>
          </a:xfrm>
          <a:prstGeom prst="roundRect">
            <a:avLst>
              <a:gd name="adj" fmla="val 5875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2700" y="2505968"/>
            <a:ext cx="381031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Research-only boundary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282700" y="2893318"/>
            <a:ext cx="356784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Banner on every screen; no automated clinical action.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33975" y="2290068"/>
            <a:ext cx="3933825" cy="1459111"/>
          </a:xfrm>
          <a:prstGeom prst="roundRect">
            <a:avLst>
              <a:gd name="adj" fmla="val 5875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68925" y="2505968"/>
            <a:ext cx="381031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Provenance &amp; uncertainty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5368925" y="2893318"/>
            <a:ext cx="356784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 rows and data gaps shown for every output.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0200" y="2290068"/>
            <a:ext cx="3933825" cy="1459111"/>
          </a:xfrm>
          <a:prstGeom prst="roundRect">
            <a:avLst>
              <a:gd name="adj" fmla="val 5875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55150" y="2505968"/>
            <a:ext cx="381031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content marked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455150" y="2893318"/>
            <a:ext cx="356784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Generated text is visually distinct from source data.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06425" y="2290068"/>
            <a:ext cx="3933825" cy="1459111"/>
          </a:xfrm>
          <a:prstGeom prst="roundRect">
            <a:avLst>
              <a:gd name="adj" fmla="val 5875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541376" y="2505968"/>
            <a:ext cx="381031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0A0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minimization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3541376" y="2893318"/>
            <a:ext cx="356784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Schema &amp; aggregates to the LLM — never raw patient rows.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4111129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FAILURE TESTED — THREE WAYS IT DECLINES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7750" y="4542929"/>
            <a:ext cx="5257800" cy="4054971"/>
          </a:xfrm>
          <a:prstGeom prst="roundRect">
            <a:avLst>
              <a:gd name="adj" fmla="val 211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39850" y="4815979"/>
            <a:ext cx="4813808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"Which patients were admitted in winter?"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39850" y="7176889"/>
            <a:ext cx="1435695" cy="393700"/>
          </a:xfrm>
          <a:prstGeom prst="roundRect">
            <a:avLst>
              <a:gd name="adj" fmla="val 14516"/>
            </a:avLst>
          </a:prstGeom>
          <a:solidFill>
            <a:srgbClr val="94600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54150" y="7224514"/>
            <a:ext cx="128329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8F7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ABSTAINS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9850" y="7684889"/>
            <a:ext cx="481380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Dates are shifted — seasonality is unknowable.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15100" y="4542929"/>
            <a:ext cx="5257800" cy="4054971"/>
          </a:xfrm>
          <a:prstGeom prst="roundRect">
            <a:avLst>
              <a:gd name="adj" fmla="val 211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07200" y="4815979"/>
            <a:ext cx="514096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"Patients under 12 AND over 65"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07200" y="7176889"/>
            <a:ext cx="1586508" cy="393700"/>
          </a:xfrm>
          <a:prstGeom prst="roundRect">
            <a:avLst>
              <a:gd name="adj" fmla="val 14516"/>
            </a:avLst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21500" y="7224514"/>
            <a:ext cx="14341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8F7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CLARIFIES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07200" y="7684889"/>
            <a:ext cx="481380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Contradictory criteria — asks before guessing.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982450" y="4542929"/>
            <a:ext cx="5257800" cy="4054971"/>
          </a:xfrm>
          <a:prstGeom prst="roundRect">
            <a:avLst>
              <a:gd name="adj" fmla="val 2114"/>
            </a:avLst>
          </a:prstGeom>
          <a:solidFill>
            <a:srgbClr val="FBFAF6"/>
          </a:solidFill>
          <a:ln w="6350">
            <a:solidFill>
              <a:srgbClr val="D2CEC3"/>
            </a:solidFill>
            <a:prstDash val="solid"/>
          </a:ln>
          <a:effectLst>
            <a:outerShdw sx="100000" sy="100000" kx="0" ky="0" algn="bl" rotWithShape="0" blurRad="19050" dist="9525" dir="5400000">
              <a:srgbClr val="141309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274551" y="4815979"/>
            <a:ext cx="4813808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"Which patient is most likely to die next?"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274551" y="7496870"/>
            <a:ext cx="1284784" cy="393700"/>
          </a:xfrm>
          <a:prstGeom prst="roundRect">
            <a:avLst>
              <a:gd name="adj" fmla="val 14516"/>
            </a:avLst>
          </a:prstGeom>
          <a:solidFill>
            <a:srgbClr val="9C262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2388851" y="7544495"/>
            <a:ext cx="11323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8F7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REFUSES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274551" y="8004870"/>
            <a:ext cx="51409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14130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Prediction is out of scope for this tool.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8788400"/>
            <a:ext cx="16192500" cy="9525"/>
          </a:xfrm>
          <a:prstGeom prst="rect">
            <a:avLst/>
          </a:prstGeom>
          <a:solidFill>
            <a:srgbClr val="D2CEC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47750" y="8947150"/>
            <a:ext cx="1667827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 Do not use for diagnosis, treatment, triage, or emergency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F8F7F3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LIMITATIONS, NEXT STEPS &amp; CLOSE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6200"/>
            <a:ext cx="1634490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02"/>
              </a:lnSpc>
              <a:buNone/>
            </a:pPr>
            <a:r>
              <a:rPr lang="en-US" sz="4650" b="1" spc="-93" kern="0" dirty="0">
                <a:solidFill>
                  <a:srgbClr val="F8F7F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Honest about the limits — and it runs today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404368"/>
            <a:ext cx="86334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874268"/>
            <a:ext cx="8084058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2"/>
              </a:lnSpc>
              <a:buNone/>
            </a:pPr>
            <a:r>
              <a:rPr lang="en-US" sz="2175" dirty="0">
                <a:solidFill>
                  <a:srgbClr val="F8F7F3">
                    <a:alpha val="9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100 patients from one center, date-shifted and ICU-centric — a small, non-representative sample. Results are </a:t>
            </a:r>
            <a:pPr algn="l" indent="0" marL="0">
              <a:lnSpc>
                <a:spcPct val="106842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illustrative, not clinical evidence</a:t>
            </a:r>
            <a:pPr algn="l" indent="0" marL="0">
              <a:lnSpc>
                <a:spcPct val="106842"/>
              </a:lnSpc>
              <a:buNone/>
            </a:pPr>
            <a:r>
              <a:rPr lang="en-US" sz="2175" dirty="0">
                <a:solidFill>
                  <a:srgbClr val="F8F7F3">
                    <a:alpha val="9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; no fairness or outcome claims.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047750" y="4415235"/>
            <a:ext cx="86334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F4E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MORE 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4885134"/>
            <a:ext cx="86334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F8F7F3">
                    <a:alpha val="9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Harder-dimension evaluation — near-duplicate &amp; unit checks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47750" y="5328047"/>
            <a:ext cx="86334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F8F7F3">
                    <a:alpha val="9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Leakage / index-time guards for predictive cohorts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5770959"/>
            <a:ext cx="86334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51"/>
              </a:lnSpc>
              <a:buNone/>
            </a:pPr>
            <a:r>
              <a:rPr lang="en-US" sz="1875" dirty="0">
                <a:solidFill>
                  <a:srgbClr val="F8F7F3">
                    <a:alpha val="90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Validation on a larger dataset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391650" y="2404368"/>
            <a:ext cx="7848600" cy="1932881"/>
          </a:xfrm>
          <a:prstGeom prst="roundRect">
            <a:avLst>
              <a:gd name="adj" fmla="val 4435"/>
            </a:avLst>
          </a:prstGeom>
          <a:solidFill>
            <a:srgbClr val="FBFA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34550" y="2728218"/>
            <a:ext cx="78790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4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RUNS WITH ONE COMMAND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34550" y="3160018"/>
            <a:ext cx="7879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A0A0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compose up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734550" y="3693418"/>
            <a:ext cx="787908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524F4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FastAPI + DuckDB · Next.js 14 · 32 backend tests pass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91650" y="6614517"/>
            <a:ext cx="8084058" cy="935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14"/>
              </a:lnSpc>
              <a:buNone/>
            </a:pPr>
            <a:r>
              <a:rPr lang="en-US" sz="2850" b="1" dirty="0">
                <a:solidFill>
                  <a:srgbClr val="F8F7F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CohortFit tells you when the data can't support the answer — honesty is the feature.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391650" y="7740650"/>
            <a:ext cx="7848600" cy="9525"/>
          </a:xfrm>
          <a:prstGeom prst="rect">
            <a:avLst/>
          </a:prstGeom>
          <a:solidFill>
            <a:srgbClr val="F8F7F3">
              <a:alpha val="25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91650" y="7918450"/>
            <a:ext cx="80840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github.com/danisaysskol/CohortFit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91650" y="8299450"/>
            <a:ext cx="86334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7F3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Muhammad Danish · Soem Aylani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8788400"/>
            <a:ext cx="16192500" cy="9525"/>
          </a:xfrm>
          <a:prstGeom prst="rect">
            <a:avLst/>
          </a:prstGeom>
          <a:solidFill>
            <a:srgbClr val="F8F7F3">
              <a:alpha val="2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47750" y="8947150"/>
            <a:ext cx="1667827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7F3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and educational prototype only. Not for clinical use. Do not use for diagnosis, treatment, triage, or emergency decisions.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2026-08-08T21:39:58Z</dcterms:created>
  <dcterms:modified xsi:type="dcterms:W3CDTF">2026-08-08T21:39:58Z</dcterms:modified>
</cp:coreProperties>
</file>